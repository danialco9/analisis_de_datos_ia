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?>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3d147a6bd48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3d147a6bd4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d147a6bd48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d147a6bd48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d147a6bd48_0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3d147a6bd48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d147a6bd48_0_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3d147a6bd48_0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3d147a6bd48_0_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Google Shape;85;g3d147a6bd48_0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994799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Análisis de reseñas de www.boohoo.com en Trustpilot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Objetivos</a:t>
            </a:r>
            <a:endParaRPr/>
          </a:p>
        </p:txBody>
      </p:sp>
      <p:sp>
        <p:nvSpPr>
          <p:cNvPr id="60" name="Google Shape;60;p14"/>
          <p:cNvSpPr txBox="1"/>
          <p:nvPr>
            <p:ph idx="1" type="body"/>
          </p:nvPr>
        </p:nvSpPr>
        <p:spPr>
          <a:xfrm>
            <a:off x="2317350" y="1152475"/>
            <a:ext cx="6515100" cy="1400000"/>
          </a:xfrm>
          <a:prstGeom prst="rect">
            <a:avLst/>
          </a:prstGeom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300"/>
              </a:spcAft>
              <a:buNone/>
            </a:pPr>
            <a:r>
              <a:rPr lang="es" sz="1100"/>
              <a:t>Analizar el sentimiento global de las reseñas de www.boohoo.com y compararlo con la competencia en el sector Shopping &amp; Fashion.</a:t>
            </a:r>
            <a:endParaRPr sz="1100"/>
          </a:p>
          <a:p>
            <a:pPr indent="0" lvl="0" marL="0" rtl="0" algn="l">
              <a:spcBef>
                <a:spcPts val="300"/>
              </a:spcBef>
              <a:spcAft>
                <a:spcPts val="300"/>
              </a:spcAft>
              <a:buNone/>
            </a:pPr>
            <a:r>
              <a:rPr lang="es" sz="1100"/>
              <a:t>Descubrir los temas (topics) principales en las reseñas usando TF-IDF + NMF (8 topics).</a:t>
            </a:r>
            <a:endParaRPr sz="1100"/>
          </a:p>
          <a:p>
            <a:pPr indent="0" lvl="0" marL="0" rtl="0" algn="l">
              <a:spcBef>
                <a:spcPts val="400"/>
              </a:spcBef>
              <a:spcAft>
                <a:spcPts val="400"/>
              </a:spcAft>
              <a:buNone/>
            </a:pPr>
            <a:r>
              <a:rPr lang="es" sz="1100"/>
              <a:t>Medir el sentimiento por topic y comparar Boohoo vs competidores del sector.</a:t>
            </a:r>
            <a:endParaRPr sz="1100"/>
          </a:p>
        </p:txBody>
      </p:sp>
      <p:sp>
        <p:nvSpPr>
          <p:cNvPr id="61" name="Google Shape;61;p14"/>
          <p:cNvSpPr/>
          <p:nvPr/>
        </p:nvSpPr>
        <p:spPr>
          <a:xfrm>
            <a:off x="387850" y="1152500"/>
            <a:ext cx="1835100" cy="9330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Objetivos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62" name="Google Shape;62;p14"/>
          <p:cNvSpPr/>
          <p:nvPr/>
        </p:nvSpPr>
        <p:spPr>
          <a:xfrm>
            <a:off x="387850" y="2221250"/>
            <a:ext cx="1835100" cy="23475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A</a:t>
            </a:r>
            <a:r>
              <a:rPr lang="en">
                <a:solidFill>
                  <a:schemeClr val="lt1"/>
                </a:solidFill>
              </a:rPr>
              <a:t>sunciones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63" name="Google Shape;63;p14"/>
          <p:cNvSpPr txBox="1"/>
          <p:nvPr>
            <p:ph idx="1" type="body"/>
          </p:nvPr>
        </p:nvSpPr>
        <p:spPr>
          <a:xfrm>
            <a:off x="2317350" y="2220225"/>
            <a:ext cx="6515100" cy="2347500"/>
          </a:xfrm>
          <a:prstGeom prst="rect">
            <a:avLst/>
          </a:prstGeom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s" sz="1200"/>
              <a:t>Dataset: Trustpilot Reviews 123k (CSV local). Sector analizado: Shopping &amp; Fashion (5.794 reseñas, 67 empresas).</a:t>
            </a:r>
            <a:endParaRPr sz="1200"/>
          </a:p>
          <a:p>
            <a:pPr indent="0" lvl="0" marL="0" rtl="0" algn="l">
              <a:spcBef>
                <a:spcPts val="800"/>
              </a:spcBef>
              <a:spcAft>
                <a:spcPts val="800"/>
              </a:spcAft>
              <a:buNone/>
            </a:pPr>
            <a:r>
              <a:rPr lang="es" sz="1200"/>
              <a:t>Boohoo: 100 reseñas con distribución balanceada (20 por cada estrella del 1 al 5).</a:t>
            </a:r>
            <a:endParaRPr sz="1200"/>
          </a:p>
          <a:p>
            <a:pPr indent="0" lvl="0" marL="0" rtl="0" algn="l">
              <a:spcBef>
                <a:spcPts val="800"/>
              </a:spcBef>
              <a:spcAft>
                <a:spcPts val="800"/>
              </a:spcAft>
              <a:buNone/>
            </a:pPr>
            <a:r>
              <a:rPr lang="es" sz="1200"/>
              <a:t>Modelo de sentimiento: distilbert-base-uncased-finetuned-sst-2-english (CPU). Clasificación binaria: POSITIVE / NEGATIVE.</a:t>
            </a:r>
            <a:endParaRPr sz="1200"/>
          </a:p>
          <a:p>
            <a:pPr indent="0" lvl="0" marL="0" rtl="0" algn="l">
              <a:spcBef>
                <a:spcPts val="800"/>
              </a:spcBef>
              <a:spcAft>
                <a:spcPts val="1200"/>
              </a:spcAft>
              <a:buNone/>
            </a:pPr>
            <a:r>
              <a:rPr lang="es" sz="1200"/>
              <a:t>Limpieza de texto: normalización de comillas, eliminación de emojis, URLs, menciones y caracteres especiales.</a:t>
            </a:r>
            <a:endParaRPr sz="12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Análisis sentimiento</a:t>
            </a:r>
            <a:endParaRPr/>
          </a:p>
        </p:txBody>
      </p:sp>
      <p:sp>
        <p:nvSpPr>
          <p:cNvPr id="168" name="SentContent"/>
          <p:cNvSpPr txBox="1"/>
          <p:nvPr/>
        </p:nvSpPr>
        <p:spPr>
          <a:xfrm>
            <a:off x="311700" y="1100000"/>
            <a:ext cx="8520600" cy="420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600"/>
              </a:spcAft>
              <a:buNone/>
            </a:pPr>
            <a:r>
              <a:rPr lang="es" sz="1400" b="1"/>
              <a:t>Sentimiento global — www.boohoo.com</a:t>
            </a:r>
          </a:p>
          <a:p>
            <a:pPr indent="0" lvl="0" marL="0" rtl="0" algn="l">
              <a:spcBef>
                <a:spcPts val="0"/>
              </a:spcBef>
              <a:spcAft>
                <a:spcPts val="600"/>
              </a:spcAft>
              <a:buNone/>
            </a:pPr>
            <a:r>
              <a:rPr lang="es" sz="1200"/>
              <a:t>Reseñas analizadas: 100 | POSITIVE: 39 (39.0%) | NEGATIVE: 61 (61.0%) | Score medio: -0.224</a:t>
            </a:r>
          </a:p>
          <a:p>
            <a:pPr indent="0" lvl="0" marL="0" rtl="0" algn="l">
              <a:spcBef>
                <a:spcPts val="800"/>
              </a:spcBef>
              <a:spcAft>
                <a:spcPts val="600"/>
              </a:spcAft>
              <a:buNone/>
            </a:pPr>
            <a:r>
              <a:rPr lang="es" sz="1400" b="1"/>
              <a:t>Sentimiento global — Competencia (66 empresas)</a:t>
            </a:r>
          </a:p>
          <a:p>
            <a:pPr indent="0" lvl="0" marL="0" rtl="0" algn="l">
              <a:spcBef>
                <a:spcPts val="0"/>
              </a:spcBef>
              <a:spcAft>
                <a:spcPts val="600"/>
              </a:spcAft>
              <a:buNone/>
            </a:pPr>
            <a:r>
              <a:rPr lang="es" sz="1200"/>
              <a:t>Reseñas analizadas: 5.694 | POSITIVE: 2.090 (36.7%) | NEGATIVE: 3.604 (63.3%) | Score medio: -0.262</a:t>
            </a:r>
          </a:p>
          <a:p>
            <a:pPr indent="0" lvl="0" marL="0" rtl="0" algn="l">
              <a:spcBef>
                <a:spcPts val="800"/>
              </a:spcBef>
              <a:spcAft>
                <a:spcPts val="600"/>
              </a:spcAft>
              <a:buNone/>
            </a:pPr>
            <a:r>
              <a:rPr lang="es" sz="1400" b="1"/>
              <a:t>Posición en el ranking del sector</a:t>
            </a:r>
          </a:p>
          <a:p>
            <a:pPr indent="0" lvl="0" marL="0" rtl="0" algn="l">
              <a:spcBef>
                <a:spcPts val="0"/>
              </a:spcBef>
              <a:spcAft>
                <a:spcPts val="600"/>
              </a:spcAft>
              <a:buNone/>
            </a:pPr>
            <a:r>
              <a:rPr lang="es" sz="1200"/>
              <a:t>Boohoo (39% positivo) supera ligeramente a la media del sector (36.7%), aunque ambos están en territorio mayoritariamente negativo.</a:t>
            </a:r>
          </a:p>
          <a:p>
            <a:pPr indent="0" lvl="0" marL="0" rtl="0" algn="l">
              <a:spcBef>
                <a:spcPts val="0"/>
              </a:spcBef>
              <a:spcAft>
                <a:spcPts val="600"/>
              </a:spcAft>
              <a:buNone/>
            </a:pPr>
            <a:r>
              <a:rPr lang="es" sz="1200"/>
              <a:t>Top empresa del sector: www.decorisdiamonds.co.uk con 90.9% positivo. Bottom: varias con 0% positivo.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Análisis topics</a:t>
            </a:r>
            <a:endParaRPr/>
          </a:p>
        </p:txBody>
      </p:sp>
      <p:sp>
        <p:nvSpPr>
          <p:cNvPr id="174" name="TopicsContent"/>
          <p:cNvSpPr txBox="1"/>
          <p:nvPr/>
        </p:nvSpPr>
        <p:spPr>
          <a:xfrm>
            <a:off x="311700" y="1100000"/>
            <a:ext cx="8520600" cy="450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400"/>
              </a:spcAft>
              <a:buNone/>
            </a:pPr>
            <a:r>
              <a:rPr lang="es" sz="1300" b="1"/>
              <a:t>8 Topics identificados (TF-IDF + NMF) — Comparativa Boohoo vs Competencia</a:t>
            </a:r>
          </a:p>
          <a:p>
            <a:pPr indent="0" lvl="0" marL="0" rtl="0" algn="l">
              <a:spcBef>
                <a:spcPts val="200"/>
              </a:spcBef>
              <a:spcAft>
                <a:spcPts val="200"/>
              </a:spcAft>
              <a:buNone/>
            </a:pPr>
            <a:r>
              <a:rPr lang="es" sz="1100" b="1"/>
              <a:t xml:space="preserve">T0 — Experiencia general (time, ve, just, like, don): </a:t>
            </a:r>
            <a:r>
              <a:rPr lang="es" sz="1100"/>
              <a:t>Boohoo 25.0% pos (n=8) vs Competencia 24.3% pos (n=1.029). Diferencia: +0.7 pp</a:t>
            </a:r>
          </a:p>
          <a:p>
            <a:pPr indent="0" lvl="0" marL="0" rtl="0" algn="l">
              <a:spcBef>
                <a:spcPts val="200"/>
              </a:spcBef>
              <a:spcAft>
                <a:spcPts val="200"/>
              </a:spcAft>
              <a:buNone/>
            </a:pPr>
            <a:r>
              <a:rPr lang="es" sz="1100" b="1"/>
              <a:t xml:space="preserve">T1 — Calidad y precio (good, quality, price, products): </a:t>
            </a:r>
            <a:r>
              <a:rPr lang="es" sz="1100"/>
              <a:t>Boohoo 33.3% pos (n=3) vs Competencia 50.3% pos (n=718). Diferencia: -16.9 pp ⚠️</a:t>
            </a:r>
          </a:p>
          <a:p>
            <a:pPr indent="0" lvl="0" marL="0" rtl="0" algn="l">
              <a:spcBef>
                <a:spcPts val="200"/>
              </a:spcBef>
              <a:spcAft>
                <a:spcPts val="200"/>
              </a:spcAft>
              <a:buNone/>
            </a:pPr>
            <a:r>
              <a:rPr lang="es" sz="1100" b="1"/>
              <a:t xml:space="preserve">T2 — Atención al cliente (service, customer, helpful): </a:t>
            </a:r>
            <a:r>
              <a:rPr lang="es" sz="1100"/>
              <a:t>Boohoo 44.7% pos (n=38) vs Competencia 43.2% pos (n=636). Diferencia: +1.5 pp ✅</a:t>
            </a:r>
          </a:p>
          <a:p>
            <a:pPr indent="0" lvl="0" marL="0" rtl="0" algn="l">
              <a:spcBef>
                <a:spcPts val="200"/>
              </a:spcBef>
              <a:spcAft>
                <a:spcPts val="200"/>
              </a:spcAft>
              <a:buNone/>
            </a:pPr>
            <a:r>
              <a:rPr lang="es" sz="1100" b="1"/>
              <a:t xml:space="preserve">T3 — Entrega y envío (delivery, day, quick, fast): </a:t>
            </a:r>
            <a:r>
              <a:rPr lang="es" sz="1100"/>
              <a:t>Boohoo 9.1% pos (n=11) vs Competencia 39.5% pos (n=674). Diferencia: -30.4 pp 🚨</a:t>
            </a:r>
          </a:p>
          <a:p>
            <a:pPr indent="0" lvl="0" marL="0" rtl="0" algn="l">
              <a:spcBef>
                <a:spcPts val="200"/>
              </a:spcBef>
              <a:spcAft>
                <a:spcPts val="200"/>
              </a:spcAft>
              <a:buNone/>
            </a:pPr>
            <a:r>
              <a:rPr lang="es" sz="1100" b="1"/>
              <a:t xml:space="preserve">T4 — Tallas y devoluciones (size, return, shoes, pair): </a:t>
            </a:r>
            <a:r>
              <a:rPr lang="es" sz="1100"/>
              <a:t>Boohoo 42.1% pos (n=19) vs Competencia 19.3% pos (n=607). Diferencia: +22.8 pp ✅</a:t>
            </a:r>
          </a:p>
          <a:p>
            <a:pPr indent="0" lvl="0" marL="0" rtl="0" algn="l">
              <a:spcBef>
                <a:spcPts val="200"/>
              </a:spcBef>
              <a:spcAft>
                <a:spcPts val="200"/>
              </a:spcAft>
              <a:buNone/>
            </a:pPr>
            <a:r>
              <a:rPr lang="es" sz="1100" b="1"/>
              <a:t xml:space="preserve">T6 — Gestión de pedidos (order, received, email, refund): </a:t>
            </a:r>
            <a:r>
              <a:rPr lang="es" sz="1100"/>
              <a:t>Boohoo 23.1% pos (n=13). Topic problemático. ⚠️</a:t>
            </a:r>
          </a:p>
          <a:p>
            <a:pPr indent="0" lvl="0" marL="0" rtl="0" algn="l">
              <a:spcBef>
                <a:spcPts val="200"/>
              </a:spcBef>
              <a:spcAft>
                <a:spcPts val="200"/>
              </a:spcAft>
              <a:buNone/>
            </a:pPr>
            <a:r>
              <a:rPr lang="es" sz="1100" b="1"/>
              <a:t xml:space="preserve">T7 — Experiencia digital (great, easy, website, recommend): </a:t>
            </a:r>
            <a:r>
              <a:rPr lang="es" sz="1100"/>
              <a:t>Boohoo 85.7% pos (n=7). Mejor topic de Boohoo. ✅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Conclusiones y Próximos pasos</a:t>
            </a:r>
            <a:endParaRPr/>
          </a:p>
        </p:txBody>
      </p:sp>
      <p:sp>
        <p:nvSpPr>
          <p:cNvPr id="79" name="Google Shape;79;p17"/>
          <p:cNvSpPr txBox="1"/>
          <p:nvPr>
            <p:ph idx="1" type="body"/>
          </p:nvPr>
        </p:nvSpPr>
        <p:spPr>
          <a:xfrm>
            <a:off x="2317350" y="1152475"/>
            <a:ext cx="6515100" cy="1400000"/>
          </a:xfrm>
          <a:prstGeom prst="rect">
            <a:avLst/>
          </a:prstGeom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800"/>
              </a:spcAft>
              <a:buNone/>
            </a:pPr>
            <a:r>
              <a:rPr lang="es" sz="1200"/>
              <a:t>El sentimiento de Boohoo (39% positivo) supera ligeramente al sector (36.7%), pero ambos están en zona negativa, lo que indica insatisfacción generalizada en Shopping &amp; Fashion.</a:t>
            </a:r>
            <a:endParaRPr sz="1200"/>
          </a:p>
          <a:p>
            <a:pPr indent="0" lvl="0" marL="0" rtl="0" algn="l">
              <a:spcBef>
                <a:spcPts val="800"/>
              </a:spcBef>
              <a:spcAft>
                <a:spcPts val="1200"/>
              </a:spcAft>
              <a:buNone/>
            </a:pPr>
            <a:r>
              <a:rPr lang="es" sz="1200"/>
              <a:t>Puntos fuertes: experiencia digital (85.7% pos, T7) y gestión de tallas/devoluciones (+22.8 pp vs competencia). Punto crítico: envíos y entregas (9.1% pos vs 39.5% sector, -30.4 pp).</a:t>
            </a:r>
            <a:endParaRPr sz="1200"/>
          </a:p>
        </p:txBody>
      </p:sp>
      <p:sp>
        <p:nvSpPr>
          <p:cNvPr id="80" name="Google Shape;80;p17"/>
          <p:cNvSpPr/>
          <p:nvPr/>
        </p:nvSpPr>
        <p:spPr>
          <a:xfrm>
            <a:off x="387850" y="1152500"/>
            <a:ext cx="1835100" cy="9330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Conclusiones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81" name="Google Shape;81;p17"/>
          <p:cNvSpPr/>
          <p:nvPr/>
        </p:nvSpPr>
        <p:spPr>
          <a:xfrm>
            <a:off x="387850" y="2221250"/>
            <a:ext cx="1835100" cy="23475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Próximos pasos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82" name="Google Shape;82;p17"/>
          <p:cNvSpPr txBox="1"/>
          <p:nvPr>
            <p:ph idx="1" type="body"/>
          </p:nvPr>
        </p:nvSpPr>
        <p:spPr>
          <a:xfrm>
            <a:off x="2317350" y="2220225"/>
            <a:ext cx="6515100" cy="2347500"/>
          </a:xfrm>
          <a:prstGeom prst="rect">
            <a:avLst/>
          </a:prstGeom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/>
              <a:t>Priorizar la mejora del proceso logístico y de envíos (topic más crítico con -30.4 pp vs competencia).</a:t>
            </a:r>
            <a:endParaRPr sz="12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 sz="1200"/>
              <a:t>Reforzar la calidad del producto (topic T1, -16.9 pp vs competencia) con campañas de calidad percibida.</a:t>
            </a:r>
            <a:endParaRPr sz="12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 sz="1200"/>
              <a:t>Ampliar el análisis con más reseñas de Boohoo (actualmente 100) para mayor representatividad estadística.</a:t>
            </a:r>
            <a:endParaRPr sz="12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s" sz="1200"/>
              <a:t>Explorar análisis temporal de sentimiento para detectar tendencias y estacionalidad (p.ej. Navidades).</a:t>
            </a:r>
            <a:endParaRPr sz="12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(instrucciones)</a:t>
            </a:r>
            <a:endParaRPr/>
          </a:p>
        </p:txBody>
      </p:sp>
      <p:sp>
        <p:nvSpPr>
          <p:cNvPr id="88" name="Google Shape;88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Esto es un propuesta de plantilla para facilitar hacer un powerpoint a aquellos menos habituados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El utilizar esta plantilla es opcional, el que se sienta más cómo con otra la puede utilizar sin problema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En las gráficas podéis pegar directamente las que os salen de python,pero que quede bonito.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